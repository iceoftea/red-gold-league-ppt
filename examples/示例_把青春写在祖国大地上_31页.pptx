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658368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1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★ 示例主题团课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spc="3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2026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783080"/>
            <a:ext cx="9052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把青春写在祖国大地上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27248"/>
            <a:ext cx="9692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zh-CN">
                <a:solidFill>
                  <a:srgbClr val="E8D3A3"/>
                </a:solidFill>
                <a:latin typeface="华文中宋"/>
                <a:ea typeface="华文中宋"/>
                <a:cs typeface="华文中宋"/>
              </a:rPr>
              <a:t>从回望来路，到接力出发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3858768"/>
            <a:ext cx="4343400" cy="0"/>
          </a:xfrm>
          <a:prstGeom prst="line">
            <a:avLst/>
          </a:prstGeom>
          <a:ln w="1397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4096512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六个问题，一条主线。
这是一份可直接运行的示例：31 页、12 张配图。
替换文字与图片，就能生成你自己的团课。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41148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 i="0" lang="zh-CN">
                <a:solidFill>
                  <a:srgbClr val="8A3A24"/>
                </a:solidFill>
                <a:latin typeface="Noto Serif SC"/>
                <a:ea typeface="Noto Serif SC"/>
                <a:cs typeface="Noto Serif SC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70448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 spc="10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  ·  2026年10月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5870448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2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THEME  · 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序章  ·  为什么出发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11556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spc="3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一次关于选择与担当的讨论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627632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青春，应该在哪里闪光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3822191"/>
            <a:ext cx="4050792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4041648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答案不在口号里，而在每一次真实的选择里。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34924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—— 示例主题团课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序章  ·  一组数字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四个数字，看见青春的分量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数字是示例，问题是真的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45745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45745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2B241E"/>
                </a:solidFill>
                <a:latin typeface="华文中宋"/>
                <a:ea typeface="华文中宋"/>
                <a:cs typeface="华文中宋"/>
              </a:rPr>
              <a:t>个选择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238429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把个人理想，放进时代需要。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07842" y="2423160"/>
            <a:ext cx="0" cy="2651760"/>
          </a:xfrm>
          <a:prstGeom prst="line">
            <a:avLst/>
          </a:prstGeom>
          <a:ln w="889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17570" y="2331720"/>
            <a:ext cx="245745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365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7570" y="3246120"/>
            <a:ext cx="245745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2B241E"/>
                </a:solidFill>
                <a:latin typeface="华文中宋"/>
                <a:ea typeface="华文中宋"/>
                <a:cs typeface="华文中宋"/>
              </a:rPr>
              <a:t>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7570" y="3703320"/>
            <a:ext cx="238429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把一件小事，坚持一整年。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8172" y="2423160"/>
            <a:ext cx="0" cy="2651760"/>
          </a:xfrm>
          <a:prstGeom prst="line">
            <a:avLst/>
          </a:prstGeom>
          <a:ln w="889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57900" y="2331720"/>
            <a:ext cx="245745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7900" y="3246120"/>
            <a:ext cx="245745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2B241E"/>
                </a:solidFill>
                <a:latin typeface="华文中宋"/>
                <a:ea typeface="华文中宋"/>
                <a:cs typeface="华文中宋"/>
              </a:rPr>
              <a:t>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7900" y="3703320"/>
            <a:ext cx="238429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从失败里站起来，再试一次。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88502" y="2423160"/>
            <a:ext cx="0" cy="2651760"/>
          </a:xfrm>
          <a:prstGeom prst="line">
            <a:avLst/>
          </a:prstGeom>
          <a:ln w="889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98230" y="2331720"/>
            <a:ext cx="245745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8230" y="3246120"/>
            <a:ext cx="245745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2B241E"/>
                </a:solidFill>
                <a:latin typeface="华文中宋"/>
                <a:ea typeface="华文中宋"/>
                <a:cs typeface="华文中宋"/>
              </a:rPr>
              <a:t>种可能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8230" y="3703320"/>
            <a:ext cx="238429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青春不被定义，但要有方向。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5532120"/>
            <a:ext cx="10607040" cy="0"/>
          </a:xfrm>
          <a:prstGeom prst="line">
            <a:avLst/>
          </a:prstGeom>
          <a:ln w="889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66928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示例数据，仅用于版式演示。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目录  · 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六个问题，一条主线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10698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CONTENTS  /  从回望来路，到走向远方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1700784"/>
            <a:ext cx="10698480" cy="0"/>
          </a:xfrm>
          <a:prstGeom prst="line">
            <a:avLst/>
          </a:prstGeom>
          <a:ln w="8890">
            <a:solidFill>
              <a:srgbClr val="D8C8A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7240" y="1901952"/>
            <a:ext cx="3456432" cy="1481328"/>
          </a:xfrm>
          <a:prstGeom prst="rect">
            <a:avLst/>
          </a:prstGeom>
          <a:solidFill>
            <a:srgbClr val="FBF6E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01952"/>
            <a:ext cx="3456432" cy="45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011680"/>
            <a:ext cx="2651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回望来路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68880"/>
            <a:ext cx="31272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从历史里，找到自己的坐标。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7992" y="1901952"/>
            <a:ext cx="3456432" cy="1481328"/>
          </a:xfrm>
          <a:prstGeom prst="rect">
            <a:avLst/>
          </a:prstGeom>
          <a:solidFill>
            <a:srgbClr val="FBF6E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1901952"/>
            <a:ext cx="3456432" cy="45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3" y="20116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011680"/>
            <a:ext cx="2651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选择方向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3" y="2468880"/>
            <a:ext cx="31272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一次选择，决定很长一段路。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1901952"/>
            <a:ext cx="3456432" cy="1481328"/>
          </a:xfrm>
          <a:prstGeom prst="rect">
            <a:avLst/>
          </a:prstGeom>
          <a:solidFill>
            <a:srgbClr val="FBF6E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901952"/>
            <a:ext cx="3456432" cy="45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20116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2011680"/>
            <a:ext cx="2651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走进现场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468880"/>
            <a:ext cx="31272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到问题发生的地方去。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547872"/>
            <a:ext cx="3456432" cy="1481328"/>
          </a:xfrm>
          <a:prstGeom prst="rect">
            <a:avLst/>
          </a:prstGeom>
          <a:solidFill>
            <a:srgbClr val="FBF6E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547872"/>
            <a:ext cx="3456432" cy="45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65760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19" y="3657600"/>
            <a:ext cx="2651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读懂人民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114800"/>
            <a:ext cx="31272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把“我以为”换成“你需要”。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7992" y="3547872"/>
            <a:ext cx="3456432" cy="1481328"/>
          </a:xfrm>
          <a:prstGeom prst="rect">
            <a:avLst/>
          </a:prstGeom>
          <a:solidFill>
            <a:srgbClr val="FBF6E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07992" y="3547872"/>
            <a:ext cx="3456432" cy="45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2583" y="365760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8072" y="3657600"/>
            <a:ext cx="2651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锤炼本领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2583" y="4114800"/>
            <a:ext cx="31272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把热情，变成解决问题的能力。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3547872"/>
            <a:ext cx="3456432" cy="1481328"/>
          </a:xfrm>
          <a:prstGeom prst="rect">
            <a:avLst/>
          </a:prstGeom>
          <a:solidFill>
            <a:srgbClr val="FBF6E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3547872"/>
            <a:ext cx="3456432" cy="45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6" y="365760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78824" y="3657600"/>
            <a:ext cx="2651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接力出发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4114800"/>
            <a:ext cx="31272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把青春写在祖国大地上。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04688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六章，一条主线；每一章都回答一个问题。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ountain_dawn.jpg"/>
          <p:cNvPicPr>
            <a:picLocks noChangeAspect="1"/>
          </p:cNvPicPr>
          <p:nvPr/>
        </p:nvPicPr>
        <p:blipFill>
          <a:blip r:embed="rId3"/>
          <a:srcRect l="25850" r="25850"/>
          <a:stretch>
            <a:fillRect/>
          </a:stretch>
        </p:blipFill>
        <p:spPr>
          <a:xfrm>
            <a:off x="7790688" y="1143000"/>
            <a:ext cx="3639312" cy="4709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6E0C0C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5925312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2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576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 lang="zh-CN">
                <a:solidFill>
                  <a:srgbClr val="E8D3A3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第一章  /  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78608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回望来路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703320"/>
            <a:ext cx="3429000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913632"/>
            <a:ext cx="6537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知道自己从哪里来，才知道要往哪里去。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第一章  ·  回望来路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三个坐标，读懂来路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时间、人民、行动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时间坐标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从历史的长镜头里，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看清一代人有一代人的接力。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人民坐标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一切奋斗的落脚点，都是人民的真实需要。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行动坐标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再远的理想，也要从脚下第一步开始。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示例内容，可替换为你的主题素材。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第一章  ·  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一条时间线，看见接力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从站起来、富起来到强起来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3310128"/>
            <a:ext cx="9354312" cy="0"/>
          </a:xfrm>
          <a:prstGeom prst="line">
            <a:avLst/>
          </a:prstGeom>
          <a:ln w="1397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53312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1921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开天辟地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一个政党，从几十个人出发。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1889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1498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1949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5778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站起来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8346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中国人民从此站起来了。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0467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0075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1978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4355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富起来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6923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改革开放，改变中国。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9046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8654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2012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2933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强起来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5502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新时代，新的历史方位。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07624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今天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1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接力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把青春写在祖国大地上。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87568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示例时间线，仅用于版式演示。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ield_gold.jpg"/>
          <p:cNvPicPr>
            <a:picLocks noChangeAspect="1"/>
          </p:cNvPicPr>
          <p:nvPr/>
        </p:nvPicPr>
        <p:blipFill>
          <a:blip r:embed="rId3"/>
          <a:srcRect t="3999" b="59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0C0C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第一章  ·  现场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5836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15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417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spc="3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历史的现场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1051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把论文写在大地上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从书桌走向田野，从概念走向问题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3584448"/>
            <a:ext cx="3913632" cy="0"/>
          </a:xfrm>
          <a:prstGeom prst="line">
            <a:avLst/>
          </a:prstGeom>
          <a:ln w="1270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脚下有泥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到现场去，才知道问题长什么样。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98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70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眼中有光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70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把个人兴趣，接到时代需要上。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50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22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心中有民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22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做出来的东西，要有人真正用得上。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road_plain.jpg"/>
          <p:cNvPicPr>
            <a:picLocks noChangeAspect="1"/>
          </p:cNvPicPr>
          <p:nvPr/>
        </p:nvPicPr>
        <p:blipFill>
          <a:blip r:embed="rId3"/>
          <a:srcRect l="25850" r="25850"/>
          <a:stretch>
            <a:fillRect/>
          </a:stretch>
        </p:blipFill>
        <p:spPr>
          <a:xfrm>
            <a:off x="7790688" y="1143000"/>
            <a:ext cx="3639312" cy="4709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6E0C0C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5925312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2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576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 lang="zh-CN">
                <a:solidFill>
                  <a:srgbClr val="E8D3A3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第二章  /  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78608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选择方向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703320"/>
            <a:ext cx="3429000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913632"/>
            <a:ext cx="6537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人生的第一粒扣子，要自己扣好。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第二章  ·  选择方向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四个问题，问清方向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把模糊的焦虑，变成具体的问题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260604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95728"/>
            <a:ext cx="260604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44368"/>
            <a:ext cx="22037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我擅长什么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47288"/>
            <a:ext cx="222199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先把长处找准，别急着补短板。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395728"/>
            <a:ext cx="260604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395728"/>
            <a:ext cx="260604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944368"/>
            <a:ext cx="22037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时代需要什么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447288"/>
            <a:ext cx="222199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把个人坐标，放进更大的坐标系。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395728"/>
            <a:ext cx="260604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395728"/>
            <a:ext cx="260604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944368"/>
            <a:ext cx="22037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我愿意为什么吃苦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47288"/>
            <a:ext cx="222199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选择之前，先想清楚代价。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395728"/>
            <a:ext cx="260604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395728"/>
            <a:ext cx="260604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944368"/>
            <a:ext cx="22037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我能坚持多久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3447288"/>
            <a:ext cx="222199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热情会退潮，习惯不会。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四个问题没有标准答案，但值得写下来。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第二章  ·  人物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【人物姓名】：把一件事做到极致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【身份 / 年份】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2788920" cy="3977639"/>
          </a:xfrm>
          <a:prstGeom prst="rect">
            <a:avLst/>
          </a:prstGeom>
          <a:solidFill>
            <a:srgbClr val="FBF6E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2788920" cy="457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47088" y="2651760"/>
            <a:ext cx="658368" cy="658368"/>
          </a:xfrm>
          <a:prstGeom prst="ellipse">
            <a:avLst/>
          </a:prstGeom>
          <a:noFill/>
          <a:ln w="17780">
            <a:solidFill>
              <a:srgbClr val="D8BE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72768" y="3456432"/>
            <a:ext cx="1207008" cy="475488"/>
          </a:xfrm>
          <a:prstGeom prst="roundRect">
            <a:avLst/>
          </a:prstGeom>
          <a:noFill/>
          <a:ln w="17780">
            <a:solidFill>
              <a:srgbClr val="D8BE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2606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150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人物照片占位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53712"/>
            <a:ext cx="26060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请替换为人物照片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1847088"/>
            <a:ext cx="7589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【人物姓名】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7056" y="2359152"/>
            <a:ext cx="74980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spc="15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【生卒年 / 时代】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72491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2697480"/>
            <a:ext cx="6995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999232"/>
            <a:ext cx="6903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【他/她为什么出发】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3593591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3566160"/>
            <a:ext cx="6995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坚持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3867911"/>
            <a:ext cx="6903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【最难的时候做了什么】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446227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4434840"/>
            <a:ext cx="6995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回响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4736592"/>
            <a:ext cx="6903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【今天留下了什么】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77056" y="5440680"/>
            <a:ext cx="877824" cy="0"/>
          </a:xfrm>
          <a:prstGeom prst="line">
            <a:avLst/>
          </a:prstGeom>
          <a:ln w="1143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77056" y="5559552"/>
            <a:ext cx="7452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【一句可核对的原话】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river_bend.jpg"/>
          <p:cNvPicPr>
            <a:picLocks noChangeAspect="1"/>
          </p:cNvPicPr>
          <p:nvPr/>
        </p:nvPicPr>
        <p:blipFill>
          <a:blip r:embed="rId3"/>
          <a:srcRect t="3999" b="59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0C0C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第二章  ·  长路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5836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15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417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spc="3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历史的现场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1051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一条路，要走很久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起点、拐点、回响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3584448"/>
            <a:ext cx="3913632" cy="0"/>
          </a:xfrm>
          <a:prstGeom prst="line">
            <a:avLst/>
          </a:prstGeom>
          <a:ln w="1270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起点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第一次出发，往往并不轰轰烈烈。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98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70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拐点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70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最难的时候，决定这条路能走多远。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50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22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回响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22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你做成的事，会替你说完剩下的话。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ity_night.jpg"/>
          <p:cNvPicPr>
            <a:picLocks noChangeAspect="1"/>
          </p:cNvPicPr>
          <p:nvPr/>
        </p:nvPicPr>
        <p:blipFill>
          <a:blip r:embed="rId3"/>
          <a:srcRect l="25850" r="25850"/>
          <a:stretch>
            <a:fillRect/>
          </a:stretch>
        </p:blipFill>
        <p:spPr>
          <a:xfrm>
            <a:off x="7790688" y="1143000"/>
            <a:ext cx="3639312" cy="4709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6E0C0C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5925312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2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576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 lang="zh-CN">
                <a:solidFill>
                  <a:srgbClr val="E8D3A3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第三章  /  CHAPTER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78608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走进现场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703320"/>
            <a:ext cx="3429000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913632"/>
            <a:ext cx="6537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答案不在会议室里，而在现场。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第三章  ·  走进现场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到现场去，看见真问题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调研不是走一圈，而是把问题带回来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带着问题去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没有问题的调研，只会带回来一堆材料。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带着耳朵去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先听完，再判断；先共情，再解释。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带着办法回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能落地的建议，哪怕小，也是成果。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示例内容，可按你的实践场景替换。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第三章  ·  行囊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下现场，带三样东西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一双鞋、一个本、一颗心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828800"/>
            <a:ext cx="2423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一双走得动的鞋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1828800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路要自己走，楼要自己爬。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2377440"/>
            <a:ext cx="10469880" cy="0"/>
          </a:xfrm>
          <a:prstGeom prst="line">
            <a:avLst/>
          </a:prstGeom>
          <a:ln w="6350">
            <a:solidFill>
              <a:srgbClr val="D8C8AE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250545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487168"/>
            <a:ext cx="2423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一个记得住的本子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2487168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好记性不如烂笔头。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035808"/>
            <a:ext cx="10469880" cy="0"/>
          </a:xfrm>
          <a:prstGeom prst="line">
            <a:avLst/>
          </a:prstGeom>
          <a:ln w="6350">
            <a:solidFill>
              <a:srgbClr val="D8C8AE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" y="316382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145536"/>
            <a:ext cx="2423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一张问得清的表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3145536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问对问题，比问多问题更重要。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3694176"/>
            <a:ext cx="10469880" cy="0"/>
          </a:xfrm>
          <a:prstGeom prst="line">
            <a:avLst/>
          </a:prstGeom>
          <a:ln w="6350">
            <a:solidFill>
              <a:srgbClr val="D8C8AE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4672" y="3822191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803904"/>
            <a:ext cx="2423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一颗放得下的心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1" y="3803904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别急着证明自己，先学会理解。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4352544"/>
            <a:ext cx="10469880" cy="0"/>
          </a:xfrm>
          <a:prstGeom prst="line">
            <a:avLst/>
          </a:prstGeom>
          <a:ln w="6350">
            <a:solidFill>
              <a:srgbClr val="D8C8AE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4672" y="4480559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462272"/>
            <a:ext cx="2423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一条回得去的线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191" y="4462272"/>
            <a:ext cx="745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留下联系方式，事情才有下文。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5010912"/>
            <a:ext cx="10469880" cy="0"/>
          </a:xfrm>
          <a:prstGeom prst="line">
            <a:avLst/>
          </a:prstGeom>
          <a:ln w="6350">
            <a:solidFill>
              <a:srgbClr val="D8C8AE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" y="5806440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清单可以根据你的实践任务自由增删。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第三章  ·  全局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在一张图上，看见全局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从点到线，再到面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847088"/>
            <a:ext cx="6126480" cy="0"/>
          </a:xfrm>
          <a:prstGeom prst="line">
            <a:avLst/>
          </a:prstGeom>
          <a:ln w="8890">
            <a:solidFill>
              <a:srgbClr val="D8C8A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204825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2011680"/>
            <a:ext cx="5577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一个点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377440"/>
            <a:ext cx="5532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先找到一个具体的问题，别贪多。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35024" y="3127248"/>
            <a:ext cx="5477256" cy="0"/>
          </a:xfrm>
          <a:prstGeom prst="line">
            <a:avLst/>
          </a:prstGeom>
          <a:ln w="6350">
            <a:solidFill>
              <a:srgbClr val="DDCFB8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" y="3291840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255264"/>
            <a:ext cx="5577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一条线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621024"/>
            <a:ext cx="5532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把相关的人、事、资源连起来。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35024" y="4370832"/>
            <a:ext cx="5477256" cy="0"/>
          </a:xfrm>
          <a:prstGeom prst="line">
            <a:avLst/>
          </a:prstGeom>
          <a:ln w="6350">
            <a:solidFill>
              <a:srgbClr val="DDCFB8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4535424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498848"/>
            <a:ext cx="5577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一个面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4864608"/>
            <a:ext cx="5532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从个案里，看见结构性的答案。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797296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示意图，仅用于版式演示。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7264" y="1755648"/>
            <a:ext cx="3529584" cy="4187952"/>
          </a:xfrm>
          <a:prstGeom prst="rect">
            <a:avLst/>
          </a:prstGeom>
          <a:solidFill>
            <a:srgbClr val="FBF6E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idge.jpg"/>
          <p:cNvPicPr>
            <a:picLocks noChangeAspect="1"/>
          </p:cNvPicPr>
          <p:nvPr/>
        </p:nvPicPr>
        <p:blipFill>
          <a:blip r:embed="rId3"/>
          <a:srcRect l="24273" r="24273"/>
          <a:stretch>
            <a:fillRect/>
          </a:stretch>
        </p:blipFill>
        <p:spPr>
          <a:xfrm>
            <a:off x="7973568" y="1883664"/>
            <a:ext cx="3236976" cy="393192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973568" y="1883664"/>
            <a:ext cx="3236976" cy="39319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870448"/>
            <a:ext cx="34564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lang="zh-CN" spc="12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ea_dusk.jpg"/>
          <p:cNvPicPr>
            <a:picLocks noChangeAspect="1"/>
          </p:cNvPicPr>
          <p:nvPr/>
        </p:nvPicPr>
        <p:blipFill>
          <a:blip r:embed="rId3"/>
          <a:srcRect l="25850" r="25850"/>
          <a:stretch>
            <a:fillRect/>
          </a:stretch>
        </p:blipFill>
        <p:spPr>
          <a:xfrm>
            <a:off x="7790688" y="1143000"/>
            <a:ext cx="3639312" cy="4709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6E0C0C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5925312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2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576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 lang="zh-CN">
                <a:solidFill>
                  <a:srgbClr val="E8D3A3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第四章  /  CHAPTER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78608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读懂人民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703320"/>
            <a:ext cx="3429000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913632"/>
            <a:ext cx="6537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把话听进去，把事办到心里。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第四章  ·  读懂人民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读懂人民，从三件小事开始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听、说、做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听得见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把“我以为”放下，先听“你需要”。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说得清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把政策语言，翻译成家常话。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做得实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承诺一件，办成一件，比说十件强。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示例内容，可替换为你的服务场景。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第四章  ·  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两种语言，一种心意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换的是说法，不换的是把事情办成的心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938528"/>
            <a:ext cx="5074920" cy="420624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文件里的语言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42032"/>
            <a:ext cx="146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52374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825496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先解释定义，再谈背景。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83279"/>
            <a:ext cx="146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36499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666744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一条一条列清楚，避免遗漏。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224528"/>
            <a:ext cx="146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206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要求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4507992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用“应当”“必须”，边界明确。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38528"/>
            <a:ext cx="5074920" cy="420624"/>
          </a:xfrm>
          <a:prstGeom prst="rect">
            <a:avLst/>
          </a:prstGeom>
          <a:solidFill>
            <a:srgbClr val="6E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群众听得懂的话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542032"/>
            <a:ext cx="146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252374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6E0C0C"/>
                </a:solidFill>
                <a:latin typeface="微软雅黑"/>
                <a:ea typeface="微软雅黑"/>
                <a:cs typeface="微软雅黑"/>
              </a:rPr>
              <a:t>例子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825496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先讲一件事，再讲道理。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383279"/>
            <a:ext cx="146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364991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6E0C0C"/>
                </a:solidFill>
                <a:latin typeface="微软雅黑"/>
                <a:ea typeface="微软雅黑"/>
                <a:cs typeface="微软雅黑"/>
              </a:rPr>
              <a:t>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666744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告诉对方下一步去哪里、找谁。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224528"/>
            <a:ext cx="1463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4206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6E0C0C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507992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什么时候办成，给一个准话。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25312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好的表达，不是降低标准，而是减少误解。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rassland.jpg"/>
          <p:cNvPicPr>
            <a:picLocks noChangeAspect="1"/>
          </p:cNvPicPr>
          <p:nvPr/>
        </p:nvPicPr>
        <p:blipFill>
          <a:blip r:embed="rId3"/>
          <a:srcRect t="3999" b="59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0C0C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第四章  ·  扎根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5836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15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417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spc="3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历史的现场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1051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把根扎在泥土里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扎根、生长、结果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3584448"/>
            <a:ext cx="3913632" cy="0"/>
          </a:xfrm>
          <a:prstGeom prst="line">
            <a:avLst/>
          </a:prstGeom>
          <a:ln w="1270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扎根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先沉下去，别急着开花。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98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70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生长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70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在解决问题中，长出自己的本事。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50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22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22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让改变发生在具体的人身上。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orest_mist.jpg"/>
          <p:cNvPicPr>
            <a:picLocks noChangeAspect="1"/>
          </p:cNvPicPr>
          <p:nvPr/>
        </p:nvPicPr>
        <p:blipFill>
          <a:blip r:embed="rId3"/>
          <a:srcRect l="25850" r="25850"/>
          <a:stretch>
            <a:fillRect/>
          </a:stretch>
        </p:blipFill>
        <p:spPr>
          <a:xfrm>
            <a:off x="7790688" y="1143000"/>
            <a:ext cx="3639312" cy="4709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6E0C0C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5925312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2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576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 lang="zh-CN">
                <a:solidFill>
                  <a:srgbClr val="E8D3A3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第五章  /  CHAPTER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78608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锤炼本领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703320"/>
            <a:ext cx="3429000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913632"/>
            <a:ext cx="6537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本领不是等来的，是练出来的。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第五章  ·  本领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三种本领，缺一不可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写、讲、干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坐下来能写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把复杂的事情，写成别人看得懂的文字。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站起来能讲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把想清楚的事，讲到别人心里去。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395728"/>
            <a:ext cx="342900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2395728"/>
            <a:ext cx="342900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944368"/>
            <a:ext cx="302666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走出去能干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47288"/>
            <a:ext cx="304495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把说定的事，一件一件办成。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三种本领，都可以通过刻意练习获得。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第五章  ·  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11556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spc="3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关于成长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627632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在事上练，在难处成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3822191"/>
            <a:ext cx="4050792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4041648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舒服的地方，长不出新的本事。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349240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—— 示例主题团课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erraces.jpg"/>
          <p:cNvPicPr>
            <a:picLocks noChangeAspect="1"/>
          </p:cNvPicPr>
          <p:nvPr/>
        </p:nvPicPr>
        <p:blipFill>
          <a:blip r:embed="rId3"/>
          <a:srcRect t="3999" b="59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0C0C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第五章  ·  磨砺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5836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15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417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spc="3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历史的现场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1051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在事上练，在难处成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接烫手山芋、啃硬骨头、打持久战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3584448"/>
            <a:ext cx="3913632" cy="0"/>
          </a:xfrm>
          <a:prstGeom prst="line">
            <a:avLst/>
          </a:prstGeom>
          <a:ln w="1270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接烫手山芋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难事总得有人做，为什么不能是你。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98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70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啃硬骨头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70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把大问题拆小，一口一口啃。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50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22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打持久战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22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真正的成长，都有点慢。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tarry_sky.jpg"/>
          <p:cNvPicPr>
            <a:picLocks noChangeAspect="1"/>
          </p:cNvPicPr>
          <p:nvPr/>
        </p:nvPicPr>
        <p:blipFill>
          <a:blip r:embed="rId3"/>
          <a:srcRect l="25850" r="25850"/>
          <a:stretch>
            <a:fillRect/>
          </a:stretch>
        </p:blipFill>
        <p:spPr>
          <a:xfrm>
            <a:off x="7790688" y="1143000"/>
            <a:ext cx="3639312" cy="4709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1143000"/>
            <a:ext cx="3639312" cy="4709160"/>
          </a:xfrm>
          <a:prstGeom prst="rect">
            <a:avLst/>
          </a:prstGeom>
          <a:solidFill>
            <a:srgbClr val="6E0C0C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5925312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2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576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1" i="0" lang="zh-CN">
                <a:solidFill>
                  <a:srgbClr val="E8D3A3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第六章  /  CHAPTER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78608"/>
            <a:ext cx="6720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接力出发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703320"/>
            <a:ext cx="3429000" cy="0"/>
          </a:xfrm>
          <a:prstGeom prst="line">
            <a:avLst/>
          </a:prstGeom>
          <a:ln w="1524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913632"/>
            <a:ext cx="6537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一代人有一代人的长征。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第六章  ·  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从今天开始的四件小事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读、讲、做、记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260604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95728"/>
            <a:ext cx="260604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44368"/>
            <a:ext cx="22037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47288"/>
            <a:ext cx="222199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读一本与你专业无关、但与时代有关的书。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395728"/>
            <a:ext cx="260604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395728"/>
            <a:ext cx="260604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944368"/>
            <a:ext cx="22037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447288"/>
            <a:ext cx="222199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把一个真实的故事，讲给身边的人听。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395728"/>
            <a:ext cx="260604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395728"/>
            <a:ext cx="260604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944368"/>
            <a:ext cx="22037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47288"/>
            <a:ext cx="222199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认领一件小事，坚持做满一个学期。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395728"/>
            <a:ext cx="2606040" cy="2834640"/>
          </a:xfrm>
          <a:prstGeom prst="rect">
            <a:avLst/>
          </a:prstGeom>
          <a:solidFill>
            <a:srgbClr val="FBF6EC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395728"/>
            <a:ext cx="2606040" cy="50292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5603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944368"/>
            <a:ext cx="22037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3447288"/>
            <a:ext cx="2221992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每月写一次复盘，记录自己的变化。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四件事，不求大，但求实。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第六章  ·  远方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从今天，到更远的地方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把大目标，拆成看得见的台阶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3310128"/>
            <a:ext cx="9354312" cy="0"/>
          </a:xfrm>
          <a:prstGeom prst="line">
            <a:avLst/>
          </a:prstGeom>
          <a:ln w="1397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53312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今天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开始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先做一件具体的小事。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1889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1498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一年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5778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习惯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8346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让坚持变成一种日常。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0467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0075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三年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4355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本事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6923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在专业上有一技之长。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9046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8654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五年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2933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担当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5502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能独立扛起一件事。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07624" y="3246120"/>
            <a:ext cx="128016" cy="128016"/>
          </a:xfrm>
          <a:prstGeom prst="rect">
            <a:avLst/>
          </a:prstGeom>
          <a:solidFill>
            <a:srgbClr val="9E1B1B"/>
          </a:solidFill>
          <a:ln w="10160">
            <a:solidFill>
              <a:srgbClr val="C8A4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2624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zh-CN">
                <a:solidFill>
                  <a:srgbClr val="9E1B1B"/>
                </a:solidFill>
                <a:latin typeface="Noto Serif SC"/>
                <a:ea typeface="Noto Serif SC"/>
                <a:cs typeface="Noto Serif SC"/>
              </a:rPr>
              <a:t>更远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1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zh-CN">
                <a:solidFill>
                  <a:srgbClr val="2B241E"/>
                </a:solidFill>
                <a:latin typeface="微软雅黑"/>
                <a:ea typeface="微软雅黑"/>
                <a:cs typeface="微软雅黑"/>
              </a:rPr>
              <a:t>接力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913632"/>
            <a:ext cx="1975104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把经验传给下一个人。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87568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 lang="zh-CN">
                <a:solidFill>
                  <a:srgbClr val="8A4A2A"/>
                </a:solidFill>
                <a:latin typeface="微软雅黑"/>
                <a:ea typeface="微软雅黑"/>
                <a:cs typeface="微软雅黑"/>
              </a:rPr>
              <a:t>示例时间线，可按你的成长规划替换。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pt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orch_rays.jpg"/>
          <p:cNvPicPr>
            <a:picLocks noChangeAspect="1"/>
          </p:cNvPicPr>
          <p:nvPr/>
        </p:nvPicPr>
        <p:blipFill>
          <a:blip r:embed="rId3"/>
          <a:srcRect t="3999" b="59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0C0C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第六章  ·  大地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5836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zh-CN" spc="15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示意图 · 脚本生成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41732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 spc="3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历史的现场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1051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把青春写在祖国大地上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在课堂上、在田野里、在需要处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3584448"/>
            <a:ext cx="3913632" cy="0"/>
          </a:xfrm>
          <a:prstGeom prst="line">
            <a:avLst/>
          </a:prstGeom>
          <a:ln w="1270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在课堂上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把专业学扎实，是最基本的担当。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98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70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在田野里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70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把知识用起来，才知道够不够。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5072" y="397763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2272" y="3950208"/>
            <a:ext cx="2910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在需要处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2272" y="4297680"/>
            <a:ext cx="2883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到祖国最需要的地方，去试一试。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1887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zh-CN" spc="300">
                <a:solidFill>
                  <a:srgbClr val="C8A45D"/>
                </a:solidFill>
                <a:latin typeface="微软雅黑"/>
                <a:ea typeface="微软雅黑"/>
                <a:cs typeface="微软雅黑"/>
              </a:rPr>
              <a:t>结语  ·  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把答案写在大地上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从回望来路，到看清方向。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46704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从一次选择，到长期坚持。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青春不止一种样子，但要有一种担当。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6112" y="5166360"/>
            <a:ext cx="4041648" cy="0"/>
          </a:xfrm>
          <a:prstGeom prst="line">
            <a:avLst/>
          </a:prstGeom>
          <a:ln w="1397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6112" y="5376672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lang="zh-CN">
                <a:solidFill>
                  <a:srgbClr val="E8D3A3"/>
                </a:solidFill>
                <a:latin typeface="华文中宋"/>
                <a:ea typeface="华文中宋"/>
                <a:cs typeface="华文中宋"/>
              </a:rPr>
              <a:t>请党放心，强国有我！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53328"/>
            <a:ext cx="8686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 lang="zh-CN">
                <a:solidFill>
                  <a:srgbClr val="B99362"/>
                </a:solidFill>
                <a:latin typeface="微软雅黑"/>
                <a:ea typeface="微软雅黑"/>
                <a:cs typeface="微软雅黑"/>
              </a:rPr>
              <a:t>示例主题团课  ·  31 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E8D3A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965960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 lang="zh-CN">
                <a:solidFill>
                  <a:srgbClr val="FFFFFF"/>
                </a:solidFill>
                <a:latin typeface="方正小标宋简体"/>
                <a:ea typeface="方正小标宋简体"/>
                <a:cs typeface="方正小标宋简体"/>
              </a:rP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926080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把青春写在祖国大地上  ·  示例主题团课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703320"/>
            <a:ext cx="3840480" cy="0"/>
          </a:xfrm>
          <a:prstGeom prst="line">
            <a:avLst/>
          </a:prstGeom>
          <a:ln w="12700">
            <a:solidFill>
              <a:srgbClr val="C8A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6112" y="391363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zh-CN">
                <a:solidFill>
                  <a:srgbClr val="E6CFB0"/>
                </a:solidFill>
                <a:latin typeface="微软雅黑"/>
                <a:ea typeface="微软雅黑"/>
                <a:cs typeface="微软雅黑"/>
              </a:rPr>
              <a:t>感谢聆听  ·  欢迎批评指正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70448"/>
            <a:ext cx="8686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 lang="zh-CN">
                <a:solidFill>
                  <a:srgbClr val="B99362"/>
                </a:solidFill>
                <a:latin typeface="微软雅黑"/>
                <a:ea typeface="微软雅黑"/>
                <a:cs typeface="微软雅黑"/>
              </a:rPr>
              <a:t>XX学院XX团支部  ·  2026年10月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E8D3A3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3291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★  </a:t>
            </a:r>
            <a:r>
              <a:rPr sz="1100" b="0" i="0" lang="zh-CN" spc="150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附录  ·  资料说明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3291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zh-CN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示例主题团课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lang="zh-CN">
                <a:solidFill>
                  <a:srgbClr val="9E1B1B"/>
                </a:solidFill>
                <a:latin typeface="方正小标宋简体"/>
                <a:ea typeface="方正小标宋简体"/>
                <a:cs typeface="方正小标宋简体"/>
              </a:rPr>
              <a:t>图片与资料说明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zh-CN" spc="30">
                <a:solidFill>
                  <a:srgbClr val="8A7A66"/>
                </a:solidFill>
                <a:latin typeface="微软雅黑"/>
                <a:ea typeface="微软雅黑"/>
                <a:cs typeface="微软雅黑"/>
              </a:rPr>
              <a:t>示例页面，可替换为你的真实来源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文字资料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52928"/>
            <a:ext cx="182879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本示例为版式演示，文字可自由替换；正式使用前请核对史实与提法。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61488" y="1965960"/>
            <a:ext cx="0" cy="3429000"/>
          </a:xfrm>
          <a:prstGeom prst="line">
            <a:avLst/>
          </a:prstGeom>
          <a:ln w="889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98648" y="193852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359152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图片来源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852928"/>
            <a:ext cx="182879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12 张示意图均由仓库脚本生成，不含第三方照片。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82896" y="1965960"/>
            <a:ext cx="0" cy="3429000"/>
          </a:xfrm>
          <a:prstGeom prst="line">
            <a:avLst/>
          </a:prstGeom>
          <a:ln w="889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0055" y="193852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5" y="2359152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字体说明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5" y="2852928"/>
            <a:ext cx="182879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默认使用方正小标宋简体、华文中宋、微软雅黑；可用环境变量替换。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04303" y="1965960"/>
            <a:ext cx="0" cy="3429000"/>
          </a:xfrm>
          <a:prstGeom prst="line">
            <a:avLst/>
          </a:prstGeom>
          <a:ln w="889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41463" y="193852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3" y="2359152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授权方式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3" y="2852928"/>
            <a:ext cx="182879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代码 MIT；背景图与示例图片 CC0 1.0。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25711" y="1965960"/>
            <a:ext cx="0" cy="3429000"/>
          </a:xfrm>
          <a:prstGeom prst="line">
            <a:avLst/>
          </a:prstGeom>
          <a:ln w="889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62872" y="193852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zh-CN">
                <a:solidFill>
                  <a:srgbClr val="C8A45D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359152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zh-CN">
                <a:solidFill>
                  <a:srgbClr val="9E1B1B"/>
                </a:solidFill>
                <a:latin typeface="华文中宋"/>
                <a:ea typeface="华文中宋"/>
                <a:cs typeface="华文中宋"/>
              </a:rPr>
              <a:t>隐私说明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852928"/>
            <a:ext cx="182879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>
                <a:solidFill>
                  <a:srgbClr val="6F655B"/>
                </a:solidFill>
                <a:latin typeface="微软雅黑"/>
                <a:ea typeface="微软雅黑"/>
                <a:cs typeface="微软雅黑"/>
              </a:rPr>
              <a:t>不含真实姓名、单位、学号、联系方式与个人照片。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1500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zh-CN" spc="10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  ·  主题团课学习资料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6400800"/>
            <a:ext cx="10762488" cy="0"/>
          </a:xfrm>
          <a:prstGeom prst="line">
            <a:avLst/>
          </a:prstGeom>
          <a:ln w="7620">
            <a:solidFill>
              <a:srgbClr val="D8C8AE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92240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zh-CN" spc="50">
                <a:solidFill>
                  <a:srgbClr val="9A8B78"/>
                </a:solidFill>
                <a:latin typeface="微软雅黑"/>
                <a:ea typeface="微软雅黑"/>
                <a:cs typeface="微软雅黑"/>
              </a:rPr>
              <a:t>XX学院XX团支部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64922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zh-CN">
                <a:solidFill>
                  <a:srgbClr val="9E1B1B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把青春写在祖国大地上</dc:title>
  <dc:subject>示例主题团课 · 31 页</dc:subject>
  <dc:creator>Red Gold Deck</dc:creator>
  <cp:keywords>主题团课, 示例, 红金, PPT</cp:keywords>
  <dc:description>示例课件；配图由脚本生成，CC0 1.0。</dc:description>
  <cp:lastModifiedBy>Red Gold Deck</cp:lastModifiedBy>
  <cp:revision>1</cp:revision>
  <dcterms:created xsi:type="dcterms:W3CDTF">2026-10-25T00:00:00Z</dcterms:created>
  <dcterms:modified xsi:type="dcterms:W3CDTF">2026-10-25T00:00:00Z</dcterms:modified>
  <cp:category>示例</cp:category>
</cp:coreProperties>
</file>